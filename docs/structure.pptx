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9"/>
    <p:restoredTop sz="94674"/>
  </p:normalViewPr>
  <p:slideViewPr>
    <p:cSldViewPr snapToGrid="0">
      <p:cViewPr varScale="1">
        <p:scale>
          <a:sx n="124" d="100"/>
          <a:sy n="124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C9F164-3328-17DC-C440-9A1FEDED1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B012BB-C883-9659-C7DB-D3F25523A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0270B-39F2-FD0C-8B7A-386CFA0B2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2619-F06C-3D42-8D48-5DBF955DAB6E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861DBD-7D32-2373-0FEF-E0D2399F7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73EA4B-C36A-773B-74EB-FA14FA704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143F-299E-4B4B-8DEC-4C5C68D172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74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AD820E-9C44-3970-0255-05C960A80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32EB1B-11B1-641E-9F62-7A79112FC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0F3334-0A6E-B2F4-72C6-60F8F3361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2619-F06C-3D42-8D48-5DBF955DAB6E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A2C5BA-52F4-0B77-74E3-1155498E3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F30A32-9A46-5F74-F7FD-DD7F38116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143F-299E-4B4B-8DEC-4C5C68D172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64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E3A08E-F885-2DA8-7CAB-2A570DEF8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F8F256-5AC2-40C7-3D85-A203B5436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773A37-19DB-08E6-69D8-EFCB138AF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2619-F06C-3D42-8D48-5DBF955DAB6E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77C1EC-51F5-64C4-25F5-B8622B88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285703-B41B-B50C-BCE5-E0278F27C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143F-299E-4B4B-8DEC-4C5C68D172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585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B70261-168E-791D-6E06-83D82AD9F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FE11F7-BB83-0C5F-B812-361DFFCCA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371CC9-56AD-3F92-25D7-508F1C187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CAA351-45A2-1F50-5F20-659257CF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2619-F06C-3D42-8D48-5DBF955DAB6E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30CCEA-628F-5E72-9828-F01C44A7B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A14B5A-60B6-3E49-C3FD-6E46BAB1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143F-299E-4B4B-8DEC-4C5C68D172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939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F65D0E-4738-86E4-F2DC-0BB70FD3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AED5E2-5683-8E77-9B33-0BFE93225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38CDE02-7E84-3878-2F59-9E8D19770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766F3FD-7554-0169-CF0E-E22A52D80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9C3F707-D512-2565-D49B-B6A720C0C8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6849A9C-8EFE-3B57-9A6E-752D2213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2619-F06C-3D42-8D48-5DBF955DAB6E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0404228-FBF6-34B0-174B-54FCE1CE1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4C0996B-83C3-3588-6319-66C8034E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143F-299E-4B4B-8DEC-4C5C68D172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32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E96552-7F81-8305-601D-B81EDFF7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5F453DD-C3ED-9F31-C9AC-C2B9B1DA7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2619-F06C-3D42-8D48-5DBF955DAB6E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E2E0EE3-7BD4-7686-84C7-231E8A6DE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107806-3A2A-964F-6731-6FC7C9B8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143F-299E-4B4B-8DEC-4C5C68D172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431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4A7F0D1-491A-ECA7-D49B-28084BBA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2619-F06C-3D42-8D48-5DBF955DAB6E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9C49E5-55D8-48D3-A72D-E99EE755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0FBCE1-4DE5-781B-0F48-E2FAEFEBC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143F-299E-4B4B-8DEC-4C5C68D172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709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DEA176-08D6-086F-2174-14BC9FB8A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223502-B435-DB68-669F-2575B578B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FB6538-1D7D-B8D7-D5EF-4B55049A8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EDF274-562A-BC0C-AEBA-6B9CFE9D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2619-F06C-3D42-8D48-5DBF955DAB6E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F945C9-5D90-36C7-D370-AFB774F75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9625EE-B2E7-1D2E-DFA9-1E33DF79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143F-299E-4B4B-8DEC-4C5C68D172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82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2CA7B-785F-57C0-A2BF-8541413F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8D99B06-5581-6F65-8880-93E3198FAC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284E0F-6511-3FB2-0C32-25327A76F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72FF04-518A-72D6-2A76-FA85322AA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2619-F06C-3D42-8D48-5DBF955DAB6E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5E6113-4AD1-F11B-5B76-07A251D92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0514CF-0D15-6D87-EB97-ED137F69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143F-299E-4B4B-8DEC-4C5C68D172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166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BA2508-4B49-CAB0-874E-0E0F80716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98020CA-3D01-BFC5-86BC-68E7C7636C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A66EC9-903E-01D2-57F8-96E11F108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2619-F06C-3D42-8D48-5DBF955DAB6E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B6B898-ABC3-60C1-2AF3-103C8E5D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C4ED4D-516E-BD98-DCF3-79AA752B9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143F-299E-4B4B-8DEC-4C5C68D172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21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095A3A1-2A94-D069-0C61-E5A89B36A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E2774C-21D7-85D0-B63B-1B0AEE888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B26919-FC53-A906-CBB3-F6738326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2619-F06C-3D42-8D48-5DBF955DAB6E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DEC85F-E272-BC6A-A2C7-939D36735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FE12BB-369B-9114-112E-37BE3B946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A143F-299E-4B4B-8DEC-4C5C68D172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311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AB3582-290B-44DC-C599-0B07D8DC1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565E2A-7EB3-2566-444B-8C2E081DA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D34FA5-4451-47F8-2316-42AF47E43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C2619-F06C-3D42-8D48-5DBF955DAB6E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2C3BC8-0CC4-6198-F672-C2EB88D59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244867-7B2D-157E-0FE2-570DE1D76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A143F-299E-4B4B-8DEC-4C5C68D172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265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нутый угол 3">
            <a:extLst>
              <a:ext uri="{FF2B5EF4-FFF2-40B4-BE49-F238E27FC236}">
                <a16:creationId xmlns:a16="http://schemas.microsoft.com/office/drawing/2014/main" id="{D5013EFA-51BC-A2AC-4A2D-5DAED06C2F55}"/>
              </a:ext>
            </a:extLst>
          </p:cNvPr>
          <p:cNvSpPr/>
          <p:nvPr/>
        </p:nvSpPr>
        <p:spPr>
          <a:xfrm rot="10800000">
            <a:off x="943452" y="537129"/>
            <a:ext cx="982639" cy="1129352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7F35D-A686-825C-296A-92809F9C0763}"/>
              </a:ext>
            </a:extLst>
          </p:cNvPr>
          <p:cNvSpPr txBox="1"/>
          <p:nvPr/>
        </p:nvSpPr>
        <p:spPr>
          <a:xfrm>
            <a:off x="980880" y="833231"/>
            <a:ext cx="876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Source </a:t>
            </a:r>
          </a:p>
          <a:p>
            <a:pPr algn="ctr"/>
            <a:r>
              <a:rPr lang="en-US" dirty="0"/>
              <a:t>model</a:t>
            </a:r>
            <a:endParaRPr lang="ru-RU" dirty="0"/>
          </a:p>
        </p:txBody>
      </p:sp>
      <p:sp>
        <p:nvSpPr>
          <p:cNvPr id="6" name="Загнутый угол 5">
            <a:extLst>
              <a:ext uri="{FF2B5EF4-FFF2-40B4-BE49-F238E27FC236}">
                <a16:creationId xmlns:a16="http://schemas.microsoft.com/office/drawing/2014/main" id="{07597537-7AE1-6B34-690D-9EE5922F22D4}"/>
              </a:ext>
            </a:extLst>
          </p:cNvPr>
          <p:cNvSpPr/>
          <p:nvPr/>
        </p:nvSpPr>
        <p:spPr>
          <a:xfrm rot="10800000">
            <a:off x="2949673" y="2128799"/>
            <a:ext cx="982639" cy="1129352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F5C068-66DE-BA1E-47CA-9D73A28B4F08}"/>
              </a:ext>
            </a:extLst>
          </p:cNvPr>
          <p:cNvSpPr txBox="1"/>
          <p:nvPr/>
        </p:nvSpPr>
        <p:spPr>
          <a:xfrm>
            <a:off x="2949673" y="2370308"/>
            <a:ext cx="9509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Custom </a:t>
            </a:r>
          </a:p>
          <a:p>
            <a:pPr algn="ctr"/>
            <a:r>
              <a:rPr lang="en-US" dirty="0"/>
              <a:t>model</a:t>
            </a:r>
            <a:endParaRPr lang="ru-RU" dirty="0"/>
          </a:p>
        </p:txBody>
      </p:sp>
      <p:sp>
        <p:nvSpPr>
          <p:cNvPr id="8" name="Типовой процесс 7">
            <a:extLst>
              <a:ext uri="{FF2B5EF4-FFF2-40B4-BE49-F238E27FC236}">
                <a16:creationId xmlns:a16="http://schemas.microsoft.com/office/drawing/2014/main" id="{D05F0274-1D2E-F952-C46E-3B228022878F}"/>
              </a:ext>
            </a:extLst>
          </p:cNvPr>
          <p:cNvSpPr/>
          <p:nvPr/>
        </p:nvSpPr>
        <p:spPr>
          <a:xfrm>
            <a:off x="418013" y="2128798"/>
            <a:ext cx="2033517" cy="1129353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keras2nmp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32843C6-0236-3178-EC7F-3D5F4D2704F8}"/>
              </a:ext>
            </a:extLst>
          </p:cNvPr>
          <p:cNvCxnSpPr>
            <a:stCxn id="4" idx="0"/>
            <a:endCxn id="8" idx="0"/>
          </p:cNvCxnSpPr>
          <p:nvPr/>
        </p:nvCxnSpPr>
        <p:spPr>
          <a:xfrm>
            <a:off x="1434771" y="1666481"/>
            <a:ext cx="1" cy="4623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E6C676A-5D86-F251-1A5B-3E706CAC71CD}"/>
              </a:ext>
            </a:extLst>
          </p:cNvPr>
          <p:cNvCxnSpPr>
            <a:cxnSpLocks/>
            <a:stCxn id="8" idx="3"/>
            <a:endCxn id="6" idx="3"/>
          </p:cNvCxnSpPr>
          <p:nvPr/>
        </p:nvCxnSpPr>
        <p:spPr>
          <a:xfrm>
            <a:off x="2451530" y="2693475"/>
            <a:ext cx="4981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9AD908C-6F77-5FCE-019D-BDEF5DF6151A}"/>
              </a:ext>
            </a:extLst>
          </p:cNvPr>
          <p:cNvSpPr txBox="1"/>
          <p:nvPr/>
        </p:nvSpPr>
        <p:spPr>
          <a:xfrm>
            <a:off x="1836869" y="1674906"/>
            <a:ext cx="1588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ко</a:t>
            </a:r>
            <a:r>
              <a:rPr lang="ru-RU" dirty="0" err="1"/>
              <a:t>нвертируем</a:t>
            </a:r>
            <a:endParaRPr lang="en-US" dirty="0"/>
          </a:p>
        </p:txBody>
      </p:sp>
      <p:sp>
        <p:nvSpPr>
          <p:cNvPr id="18" name="Несколько документов 17">
            <a:extLst>
              <a:ext uri="{FF2B5EF4-FFF2-40B4-BE49-F238E27FC236}">
                <a16:creationId xmlns:a16="http://schemas.microsoft.com/office/drawing/2014/main" id="{B0631B9B-8268-74B8-440B-E6157EBCB9EF}"/>
              </a:ext>
            </a:extLst>
          </p:cNvPr>
          <p:cNvSpPr/>
          <p:nvPr/>
        </p:nvSpPr>
        <p:spPr>
          <a:xfrm>
            <a:off x="382135" y="3822827"/>
            <a:ext cx="1837380" cy="1460310"/>
          </a:xfrm>
          <a:prstGeom prst="flowChartMultidocumen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>
                <a:solidFill>
                  <a:schemeClr val="tx1"/>
                </a:solidFill>
              </a:rPr>
              <a:t>c</a:t>
            </a:r>
            <a:r>
              <a:rPr lang="en-US" dirty="0" err="1">
                <a:solidFill>
                  <a:schemeClr val="tx1"/>
                </a:solidFill>
              </a:rPr>
              <a:t>omponents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D1F7CB93-A8C9-2FE7-A89B-547865EC02C0}"/>
              </a:ext>
            </a:extLst>
          </p:cNvPr>
          <p:cNvCxnSpPr>
            <a:cxnSpLocks/>
            <a:stCxn id="18" idx="0"/>
            <a:endCxn id="8" idx="2"/>
          </p:cNvCxnSpPr>
          <p:nvPr/>
        </p:nvCxnSpPr>
        <p:spPr>
          <a:xfrm flipV="1">
            <a:off x="1427230" y="3258151"/>
            <a:ext cx="7542" cy="5646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44DBFB6-6BDD-756C-D62A-EB05A5FDC9B8}"/>
              </a:ext>
            </a:extLst>
          </p:cNvPr>
          <p:cNvSpPr txBox="1"/>
          <p:nvPr/>
        </p:nvSpPr>
        <p:spPr>
          <a:xfrm>
            <a:off x="374850" y="5283137"/>
            <a:ext cx="14393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Sequential, </a:t>
            </a:r>
          </a:p>
          <a:p>
            <a:r>
              <a:rPr lang="en" dirty="0"/>
              <a:t>Dense, </a:t>
            </a:r>
          </a:p>
          <a:p>
            <a:r>
              <a:rPr lang="en" dirty="0"/>
              <a:t>Conv2D, </a:t>
            </a:r>
          </a:p>
          <a:p>
            <a:r>
              <a:rPr lang="en" dirty="0"/>
              <a:t>Flatten, …</a:t>
            </a:r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36D941-511D-E100-1E51-0D9FD79DAEC6}"/>
              </a:ext>
            </a:extLst>
          </p:cNvPr>
          <p:cNvSpPr txBox="1"/>
          <p:nvPr/>
        </p:nvSpPr>
        <p:spPr>
          <a:xfrm>
            <a:off x="2533415" y="3310315"/>
            <a:ext cx="18151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 слоя нужно подменить метод </a:t>
            </a:r>
            <a:r>
              <a:rPr lang="en" dirty="0" err="1"/>
              <a:t>matmul</a:t>
            </a:r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80BC992-35EF-CA2B-B32A-69717701D7C2}"/>
              </a:ext>
            </a:extLst>
          </p:cNvPr>
          <p:cNvSpPr/>
          <p:nvPr/>
        </p:nvSpPr>
        <p:spPr>
          <a:xfrm>
            <a:off x="232012" y="393825"/>
            <a:ext cx="3843601" cy="608964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2E1B93-06F7-BD5A-1FA7-EFFCAC045DC0}"/>
              </a:ext>
            </a:extLst>
          </p:cNvPr>
          <p:cNvSpPr txBox="1"/>
          <p:nvPr/>
        </p:nvSpPr>
        <p:spPr>
          <a:xfrm>
            <a:off x="908567" y="25087"/>
            <a:ext cx="2490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Выполняется на </a:t>
            </a:r>
            <a:r>
              <a:rPr lang="en-US" dirty="0" err="1"/>
              <a:t>П</a:t>
            </a:r>
            <a:r>
              <a:rPr lang="ru-RU" dirty="0"/>
              <a:t>К с </a:t>
            </a:r>
            <a:r>
              <a:rPr lang="en-US" dirty="0"/>
              <a:t>TF</a:t>
            </a:r>
            <a:endParaRPr lang="ru-RU" dirty="0"/>
          </a:p>
        </p:txBody>
      </p:sp>
      <p:sp>
        <p:nvSpPr>
          <p:cNvPr id="30" name="Вертикальный свиток 29">
            <a:extLst>
              <a:ext uri="{FF2B5EF4-FFF2-40B4-BE49-F238E27FC236}">
                <a16:creationId xmlns:a16="http://schemas.microsoft.com/office/drawing/2014/main" id="{32D5807D-0FC3-8855-CD3B-E5B2D0768831}"/>
              </a:ext>
            </a:extLst>
          </p:cNvPr>
          <p:cNvSpPr/>
          <p:nvPr/>
        </p:nvSpPr>
        <p:spPr>
          <a:xfrm>
            <a:off x="4537802" y="2641499"/>
            <a:ext cx="2002191" cy="2508744"/>
          </a:xfrm>
          <a:prstGeom prst="verticalScroll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Скрипт </a:t>
            </a:r>
            <a:r>
              <a:rPr lang="ru-RU" dirty="0" err="1">
                <a:solidFill>
                  <a:schemeClr val="tx1"/>
                </a:solidFill>
              </a:rPr>
              <a:t>инференса</a:t>
            </a:r>
            <a:r>
              <a:rPr lang="ru-RU" dirty="0">
                <a:solidFill>
                  <a:schemeClr val="tx1"/>
                </a:solidFill>
              </a:rPr>
              <a:t> ИНС</a:t>
            </a:r>
          </a:p>
        </p:txBody>
      </p:sp>
      <p:cxnSp>
        <p:nvCxnSpPr>
          <p:cNvPr id="32" name="Соединительная линия уступом 31">
            <a:extLst>
              <a:ext uri="{FF2B5EF4-FFF2-40B4-BE49-F238E27FC236}">
                <a16:creationId xmlns:a16="http://schemas.microsoft.com/office/drawing/2014/main" id="{194A1D4C-4E73-710F-9964-4D87006FCD71}"/>
              </a:ext>
            </a:extLst>
          </p:cNvPr>
          <p:cNvCxnSpPr>
            <a:cxnSpLocks/>
            <a:stCxn id="18" idx="3"/>
            <a:endCxn id="30" idx="1"/>
          </p:cNvCxnSpPr>
          <p:nvPr/>
        </p:nvCxnSpPr>
        <p:spPr>
          <a:xfrm flipV="1">
            <a:off x="2219515" y="3895871"/>
            <a:ext cx="2568561" cy="657111"/>
          </a:xfrm>
          <a:prstGeom prst="bentConnector5">
            <a:avLst>
              <a:gd name="adj1" fmla="val 45128"/>
              <a:gd name="adj2" fmla="val 230"/>
              <a:gd name="adj3" fmla="val 8508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A4CD035-41CF-D569-B7A5-D3066992A400}"/>
              </a:ext>
            </a:extLst>
          </p:cNvPr>
          <p:cNvSpPr txBox="1"/>
          <p:nvPr/>
        </p:nvSpPr>
        <p:spPr>
          <a:xfrm>
            <a:off x="2408749" y="4591396"/>
            <a:ext cx="183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1. </a:t>
            </a:r>
            <a:r>
              <a:rPr lang="en" dirty="0" err="1"/>
              <a:t>load_model</a:t>
            </a:r>
            <a:endParaRPr lang="ru-RU" dirty="0"/>
          </a:p>
        </p:txBody>
      </p:sp>
      <p:sp>
        <p:nvSpPr>
          <p:cNvPr id="35" name="Несколько документов 34">
            <a:extLst>
              <a:ext uri="{FF2B5EF4-FFF2-40B4-BE49-F238E27FC236}">
                <a16:creationId xmlns:a16="http://schemas.microsoft.com/office/drawing/2014/main" id="{8441FDB9-ED77-2549-7EB8-8C9D2C16FC35}"/>
              </a:ext>
            </a:extLst>
          </p:cNvPr>
          <p:cNvSpPr/>
          <p:nvPr/>
        </p:nvSpPr>
        <p:spPr>
          <a:xfrm>
            <a:off x="7404222" y="3161406"/>
            <a:ext cx="1837380" cy="1460310"/>
          </a:xfrm>
          <a:prstGeom prst="flowChartMultidocumen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hardlayers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6" name="Альтернативный процесс 35">
            <a:extLst>
              <a:ext uri="{FF2B5EF4-FFF2-40B4-BE49-F238E27FC236}">
                <a16:creationId xmlns:a16="http://schemas.microsoft.com/office/drawing/2014/main" id="{D0ADD028-91C3-454F-5EB9-20821F57C93E}"/>
              </a:ext>
            </a:extLst>
          </p:cNvPr>
          <p:cNvSpPr/>
          <p:nvPr/>
        </p:nvSpPr>
        <p:spPr>
          <a:xfrm>
            <a:off x="10417611" y="1243561"/>
            <a:ext cx="1595132" cy="899786"/>
          </a:xfrm>
          <a:prstGeom prst="flowChartAlternateProcess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MemriCore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85FE40-4313-9C69-3543-587F19543D3C}"/>
              </a:ext>
            </a:extLst>
          </p:cNvPr>
          <p:cNvSpPr txBox="1"/>
          <p:nvPr/>
        </p:nvSpPr>
        <p:spPr>
          <a:xfrm>
            <a:off x="9498923" y="1259628"/>
            <a:ext cx="183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2. conn</a:t>
            </a:r>
            <a:endParaRPr lang="ru-R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753DCE-847C-6BC4-2EFE-13A31757BFE7}"/>
              </a:ext>
            </a:extLst>
          </p:cNvPr>
          <p:cNvSpPr txBox="1"/>
          <p:nvPr/>
        </p:nvSpPr>
        <p:spPr>
          <a:xfrm>
            <a:off x="10407886" y="2162450"/>
            <a:ext cx="13702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mode_7,</a:t>
            </a:r>
          </a:p>
          <a:p>
            <a:r>
              <a:rPr lang="en-US" dirty="0"/>
              <a:t>mode_9,</a:t>
            </a:r>
          </a:p>
          <a:p>
            <a:r>
              <a:rPr lang="en-US" dirty="0" err="1"/>
              <a:t>mode_mvm</a:t>
            </a:r>
            <a:r>
              <a:rPr lang="en-US" dirty="0"/>
              <a:t>,</a:t>
            </a:r>
          </a:p>
          <a:p>
            <a:r>
              <a:rPr lang="en-US" dirty="0" err="1"/>
              <a:t>mode_core</a:t>
            </a:r>
            <a:endParaRPr lang="ru-RU" dirty="0"/>
          </a:p>
        </p:txBody>
      </p:sp>
      <p:sp>
        <p:nvSpPr>
          <p:cNvPr id="42" name="Несколько документов 41">
            <a:extLst>
              <a:ext uri="{FF2B5EF4-FFF2-40B4-BE49-F238E27FC236}">
                <a16:creationId xmlns:a16="http://schemas.microsoft.com/office/drawing/2014/main" id="{CE17BBA9-8E5A-5ECC-7CAC-8E4BDC509A7C}"/>
              </a:ext>
            </a:extLst>
          </p:cNvPr>
          <p:cNvSpPr/>
          <p:nvPr/>
        </p:nvSpPr>
        <p:spPr>
          <a:xfrm>
            <a:off x="7661543" y="969533"/>
            <a:ext cx="1837380" cy="1460310"/>
          </a:xfrm>
          <a:prstGeom prst="flowChartMultidocumen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cores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DF150B0B-D2E2-3606-10BF-3A6309677846}"/>
              </a:ext>
            </a:extLst>
          </p:cNvPr>
          <p:cNvCxnSpPr>
            <a:cxnSpLocks/>
            <a:stCxn id="36" idx="1"/>
            <a:endCxn id="42" idx="3"/>
          </p:cNvCxnSpPr>
          <p:nvPr/>
        </p:nvCxnSpPr>
        <p:spPr>
          <a:xfrm flipH="1">
            <a:off x="9498923" y="1693454"/>
            <a:ext cx="918688" cy="62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DB9B5CD8-09E0-80D8-C0B9-24A2623183F0}"/>
              </a:ext>
            </a:extLst>
          </p:cNvPr>
          <p:cNvCxnSpPr>
            <a:cxnSpLocks/>
            <a:stCxn id="42" idx="2"/>
            <a:endCxn id="35" idx="0"/>
          </p:cNvCxnSpPr>
          <p:nvPr/>
        </p:nvCxnSpPr>
        <p:spPr>
          <a:xfrm flipH="1">
            <a:off x="8449317" y="2374541"/>
            <a:ext cx="3150" cy="7868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30B8B8E-062D-003A-2DEC-966308A7F86D}"/>
              </a:ext>
            </a:extLst>
          </p:cNvPr>
          <p:cNvSpPr txBox="1"/>
          <p:nvPr/>
        </p:nvSpPr>
        <p:spPr>
          <a:xfrm>
            <a:off x="8449317" y="2516217"/>
            <a:ext cx="183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3</a:t>
            </a:r>
            <a:r>
              <a:rPr lang="en-US" dirty="0"/>
              <a:t>. device</a:t>
            </a:r>
            <a:endParaRPr lang="ru-R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CE9846-0E1E-3485-8D1A-712673074F50}"/>
              </a:ext>
            </a:extLst>
          </p:cNvPr>
          <p:cNvSpPr txBox="1"/>
          <p:nvPr/>
        </p:nvSpPr>
        <p:spPr>
          <a:xfrm>
            <a:off x="6289719" y="3482859"/>
            <a:ext cx="183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</a:t>
            </a:r>
            <a:r>
              <a:rPr lang="en-US" dirty="0" err="1"/>
              <a:t>matmul</a:t>
            </a:r>
            <a:endParaRPr lang="ru-RU" dirty="0"/>
          </a:p>
        </p:txBody>
      </p: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E5A0976E-24A9-D235-9A39-7120FBEC9D9D}"/>
              </a:ext>
            </a:extLst>
          </p:cNvPr>
          <p:cNvCxnSpPr>
            <a:cxnSpLocks/>
            <a:stCxn id="35" idx="1"/>
            <a:endCxn id="30" idx="3"/>
          </p:cNvCxnSpPr>
          <p:nvPr/>
        </p:nvCxnSpPr>
        <p:spPr>
          <a:xfrm flipH="1">
            <a:off x="6289719" y="3891561"/>
            <a:ext cx="1114503" cy="43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Альтернативный процесс 61">
            <a:extLst>
              <a:ext uri="{FF2B5EF4-FFF2-40B4-BE49-F238E27FC236}">
                <a16:creationId xmlns:a16="http://schemas.microsoft.com/office/drawing/2014/main" id="{9430D7BE-D019-A2DC-A021-67C9D96AD75E}"/>
              </a:ext>
            </a:extLst>
          </p:cNvPr>
          <p:cNvSpPr/>
          <p:nvPr/>
        </p:nvSpPr>
        <p:spPr>
          <a:xfrm>
            <a:off x="10407886" y="220647"/>
            <a:ext cx="1595132" cy="899786"/>
          </a:xfrm>
          <a:prstGeom prst="flowChartAlternateProcess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MemriBoard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D74537-3C9C-B179-9FA9-A60E2F24183F}"/>
              </a:ext>
            </a:extLst>
          </p:cNvPr>
          <p:cNvSpPr txBox="1"/>
          <p:nvPr/>
        </p:nvSpPr>
        <p:spPr>
          <a:xfrm>
            <a:off x="7270722" y="48939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 err="1"/>
              <a:t>ElementWiseMatMulLayer</a:t>
            </a:r>
            <a:r>
              <a:rPr lang="en" dirty="0"/>
              <a:t>,</a:t>
            </a:r>
          </a:p>
          <a:p>
            <a:r>
              <a:rPr lang="en" dirty="0" err="1"/>
              <a:t>SingleCrossbarMatMulLayer</a:t>
            </a:r>
            <a:r>
              <a:rPr lang="en" dirty="0"/>
              <a:t>, …</a:t>
            </a:r>
            <a:endParaRPr lang="ru-RU" dirty="0"/>
          </a:p>
        </p:txBody>
      </p:sp>
      <p:cxnSp>
        <p:nvCxnSpPr>
          <p:cNvPr id="70" name="Соединительная линия уступом 69">
            <a:extLst>
              <a:ext uri="{FF2B5EF4-FFF2-40B4-BE49-F238E27FC236}">
                <a16:creationId xmlns:a16="http://schemas.microsoft.com/office/drawing/2014/main" id="{3F5C66A3-9523-66B5-1BB2-103555C391DB}"/>
              </a:ext>
            </a:extLst>
          </p:cNvPr>
          <p:cNvCxnSpPr>
            <a:cxnSpLocks/>
            <a:stCxn id="62" idx="1"/>
            <a:endCxn id="42" idx="0"/>
          </p:cNvCxnSpPr>
          <p:nvPr/>
        </p:nvCxnSpPr>
        <p:spPr>
          <a:xfrm rot="10800000" flipV="1">
            <a:off x="8706638" y="670539"/>
            <a:ext cx="1701248" cy="29899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Память с прямым доступом 80">
            <a:extLst>
              <a:ext uri="{FF2B5EF4-FFF2-40B4-BE49-F238E27FC236}">
                <a16:creationId xmlns:a16="http://schemas.microsoft.com/office/drawing/2014/main" id="{697D039D-C4B9-FFA0-7558-16266F33EE91}"/>
              </a:ext>
            </a:extLst>
          </p:cNvPr>
          <p:cNvSpPr/>
          <p:nvPr/>
        </p:nvSpPr>
        <p:spPr>
          <a:xfrm rot="16200000">
            <a:off x="5054024" y="1134090"/>
            <a:ext cx="969747" cy="942433"/>
          </a:xfrm>
          <a:prstGeom prst="flowChartMagneticDrum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EDBBC3B-48E6-4EBF-5BA0-1EF0344658BF}"/>
              </a:ext>
            </a:extLst>
          </p:cNvPr>
          <p:cNvSpPr txBox="1"/>
          <p:nvPr/>
        </p:nvSpPr>
        <p:spPr>
          <a:xfrm>
            <a:off x="4613996" y="691906"/>
            <a:ext cx="1849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Входные данные</a:t>
            </a:r>
          </a:p>
        </p:txBody>
      </p:sp>
      <p:cxnSp>
        <p:nvCxnSpPr>
          <p:cNvPr id="83" name="Прямая со стрелкой 82">
            <a:extLst>
              <a:ext uri="{FF2B5EF4-FFF2-40B4-BE49-F238E27FC236}">
                <a16:creationId xmlns:a16="http://schemas.microsoft.com/office/drawing/2014/main" id="{BE3BAE45-B058-5936-092D-3B22D42108D8}"/>
              </a:ext>
            </a:extLst>
          </p:cNvPr>
          <p:cNvCxnSpPr>
            <a:cxnSpLocks/>
            <a:stCxn id="81" idx="1"/>
            <a:endCxn id="30" idx="0"/>
          </p:cNvCxnSpPr>
          <p:nvPr/>
        </p:nvCxnSpPr>
        <p:spPr>
          <a:xfrm>
            <a:off x="5538898" y="2090180"/>
            <a:ext cx="0" cy="5513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Память с прямым доступом 85">
            <a:extLst>
              <a:ext uri="{FF2B5EF4-FFF2-40B4-BE49-F238E27FC236}">
                <a16:creationId xmlns:a16="http://schemas.microsoft.com/office/drawing/2014/main" id="{2C765125-DE8A-C18F-CBD3-0D501C6F11F0}"/>
              </a:ext>
            </a:extLst>
          </p:cNvPr>
          <p:cNvSpPr/>
          <p:nvPr/>
        </p:nvSpPr>
        <p:spPr>
          <a:xfrm rot="16200000">
            <a:off x="5027211" y="5693666"/>
            <a:ext cx="1023376" cy="942433"/>
          </a:xfrm>
          <a:prstGeom prst="flowChartMagneticDrum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7" name="Прямая со стрелкой 86">
            <a:extLst>
              <a:ext uri="{FF2B5EF4-FFF2-40B4-BE49-F238E27FC236}">
                <a16:creationId xmlns:a16="http://schemas.microsoft.com/office/drawing/2014/main" id="{F922D56C-181D-887E-FE23-883115E807DF}"/>
              </a:ext>
            </a:extLst>
          </p:cNvPr>
          <p:cNvCxnSpPr>
            <a:cxnSpLocks/>
            <a:stCxn id="30" idx="2"/>
            <a:endCxn id="86" idx="4"/>
          </p:cNvCxnSpPr>
          <p:nvPr/>
        </p:nvCxnSpPr>
        <p:spPr>
          <a:xfrm>
            <a:off x="5538898" y="5150243"/>
            <a:ext cx="2" cy="5029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4F0CDFAB-D9E5-5D99-5777-4B15E8E107CE}"/>
              </a:ext>
            </a:extLst>
          </p:cNvPr>
          <p:cNvSpPr txBox="1"/>
          <p:nvPr/>
        </p:nvSpPr>
        <p:spPr>
          <a:xfrm>
            <a:off x="6096000" y="5991603"/>
            <a:ext cx="2003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Выходные данные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9B9DDB-A7E7-1648-2ED7-2A477F4CA748}"/>
              </a:ext>
            </a:extLst>
          </p:cNvPr>
          <p:cNvSpPr txBox="1"/>
          <p:nvPr/>
        </p:nvSpPr>
        <p:spPr>
          <a:xfrm>
            <a:off x="8937628" y="309083"/>
            <a:ext cx="1627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Application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8908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нутый угол 3">
            <a:extLst>
              <a:ext uri="{FF2B5EF4-FFF2-40B4-BE49-F238E27FC236}">
                <a16:creationId xmlns:a16="http://schemas.microsoft.com/office/drawing/2014/main" id="{D5013EFA-51BC-A2AC-4A2D-5DAED06C2F55}"/>
              </a:ext>
            </a:extLst>
          </p:cNvPr>
          <p:cNvSpPr/>
          <p:nvPr/>
        </p:nvSpPr>
        <p:spPr>
          <a:xfrm rot="10800000">
            <a:off x="943452" y="537129"/>
            <a:ext cx="982639" cy="1129352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7F35D-A686-825C-296A-92809F9C0763}"/>
              </a:ext>
            </a:extLst>
          </p:cNvPr>
          <p:cNvSpPr txBox="1"/>
          <p:nvPr/>
        </p:nvSpPr>
        <p:spPr>
          <a:xfrm>
            <a:off x="980880" y="833231"/>
            <a:ext cx="876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Source </a:t>
            </a:r>
          </a:p>
          <a:p>
            <a:pPr algn="ctr"/>
            <a:r>
              <a:rPr lang="en-US" dirty="0"/>
              <a:t>model</a:t>
            </a:r>
            <a:endParaRPr lang="ru-RU" dirty="0"/>
          </a:p>
        </p:txBody>
      </p:sp>
      <p:sp>
        <p:nvSpPr>
          <p:cNvPr id="6" name="Загнутый угол 5">
            <a:extLst>
              <a:ext uri="{FF2B5EF4-FFF2-40B4-BE49-F238E27FC236}">
                <a16:creationId xmlns:a16="http://schemas.microsoft.com/office/drawing/2014/main" id="{07597537-7AE1-6B34-690D-9EE5922F22D4}"/>
              </a:ext>
            </a:extLst>
          </p:cNvPr>
          <p:cNvSpPr/>
          <p:nvPr/>
        </p:nvSpPr>
        <p:spPr>
          <a:xfrm rot="10800000">
            <a:off x="2949673" y="2128799"/>
            <a:ext cx="982639" cy="1129352"/>
          </a:xfrm>
          <a:prstGeom prst="foldedCorner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F5C068-66DE-BA1E-47CA-9D73A28B4F08}"/>
              </a:ext>
            </a:extLst>
          </p:cNvPr>
          <p:cNvSpPr txBox="1"/>
          <p:nvPr/>
        </p:nvSpPr>
        <p:spPr>
          <a:xfrm>
            <a:off x="2949673" y="2370308"/>
            <a:ext cx="9509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Custom </a:t>
            </a:r>
          </a:p>
          <a:p>
            <a:pPr algn="ctr"/>
            <a:r>
              <a:rPr lang="en-US" dirty="0"/>
              <a:t>model</a:t>
            </a:r>
            <a:endParaRPr lang="ru-RU" dirty="0"/>
          </a:p>
        </p:txBody>
      </p:sp>
      <p:sp>
        <p:nvSpPr>
          <p:cNvPr id="8" name="Типовой процесс 7">
            <a:extLst>
              <a:ext uri="{FF2B5EF4-FFF2-40B4-BE49-F238E27FC236}">
                <a16:creationId xmlns:a16="http://schemas.microsoft.com/office/drawing/2014/main" id="{D05F0274-1D2E-F952-C46E-3B228022878F}"/>
              </a:ext>
            </a:extLst>
          </p:cNvPr>
          <p:cNvSpPr/>
          <p:nvPr/>
        </p:nvSpPr>
        <p:spPr>
          <a:xfrm>
            <a:off x="418013" y="2128798"/>
            <a:ext cx="2033517" cy="1129353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keras2nmp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32843C6-0236-3178-EC7F-3D5F4D2704F8}"/>
              </a:ext>
            </a:extLst>
          </p:cNvPr>
          <p:cNvCxnSpPr>
            <a:stCxn id="4" idx="0"/>
            <a:endCxn id="8" idx="0"/>
          </p:cNvCxnSpPr>
          <p:nvPr/>
        </p:nvCxnSpPr>
        <p:spPr>
          <a:xfrm>
            <a:off x="1434771" y="1666481"/>
            <a:ext cx="1" cy="4623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E6C676A-5D86-F251-1A5B-3E706CAC71CD}"/>
              </a:ext>
            </a:extLst>
          </p:cNvPr>
          <p:cNvCxnSpPr>
            <a:cxnSpLocks/>
            <a:stCxn id="8" idx="3"/>
            <a:endCxn id="6" idx="3"/>
          </p:cNvCxnSpPr>
          <p:nvPr/>
        </p:nvCxnSpPr>
        <p:spPr>
          <a:xfrm>
            <a:off x="2451530" y="2693475"/>
            <a:ext cx="4981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9AD908C-6F77-5FCE-019D-BDEF5DF6151A}"/>
              </a:ext>
            </a:extLst>
          </p:cNvPr>
          <p:cNvSpPr txBox="1"/>
          <p:nvPr/>
        </p:nvSpPr>
        <p:spPr>
          <a:xfrm>
            <a:off x="2014292" y="1729497"/>
            <a:ext cx="1379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/>
              <a:t>Converting</a:t>
            </a:r>
            <a:r>
              <a:rPr lang="ru-RU" dirty="0"/>
              <a:t>…</a:t>
            </a:r>
            <a:endParaRPr lang="en-US" dirty="0"/>
          </a:p>
        </p:txBody>
      </p:sp>
      <p:sp>
        <p:nvSpPr>
          <p:cNvPr id="18" name="Несколько документов 17">
            <a:extLst>
              <a:ext uri="{FF2B5EF4-FFF2-40B4-BE49-F238E27FC236}">
                <a16:creationId xmlns:a16="http://schemas.microsoft.com/office/drawing/2014/main" id="{B0631B9B-8268-74B8-440B-E6157EBCB9EF}"/>
              </a:ext>
            </a:extLst>
          </p:cNvPr>
          <p:cNvSpPr/>
          <p:nvPr/>
        </p:nvSpPr>
        <p:spPr>
          <a:xfrm>
            <a:off x="382135" y="3822827"/>
            <a:ext cx="1837380" cy="1460310"/>
          </a:xfrm>
          <a:prstGeom prst="flowChartMultidocumen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>
                <a:solidFill>
                  <a:schemeClr val="tx1"/>
                </a:solidFill>
              </a:rPr>
              <a:t>c</a:t>
            </a:r>
            <a:r>
              <a:rPr lang="en-US" dirty="0" err="1">
                <a:solidFill>
                  <a:schemeClr val="tx1"/>
                </a:solidFill>
              </a:rPr>
              <a:t>omponents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D1F7CB93-A8C9-2FE7-A89B-547865EC02C0}"/>
              </a:ext>
            </a:extLst>
          </p:cNvPr>
          <p:cNvCxnSpPr>
            <a:cxnSpLocks/>
            <a:stCxn id="18" idx="0"/>
            <a:endCxn id="8" idx="2"/>
          </p:cNvCxnSpPr>
          <p:nvPr/>
        </p:nvCxnSpPr>
        <p:spPr>
          <a:xfrm flipV="1">
            <a:off x="1427230" y="3258151"/>
            <a:ext cx="7542" cy="5646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44DBFB6-6BDD-756C-D62A-EB05A5FDC9B8}"/>
              </a:ext>
            </a:extLst>
          </p:cNvPr>
          <p:cNvSpPr txBox="1"/>
          <p:nvPr/>
        </p:nvSpPr>
        <p:spPr>
          <a:xfrm>
            <a:off x="374850" y="5283137"/>
            <a:ext cx="14393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400" dirty="0"/>
              <a:t>Sequential, </a:t>
            </a:r>
          </a:p>
          <a:p>
            <a:r>
              <a:rPr lang="en" sz="1400" dirty="0"/>
              <a:t>Dense, </a:t>
            </a:r>
          </a:p>
          <a:p>
            <a:r>
              <a:rPr lang="en" sz="1400" dirty="0"/>
              <a:t>Conv2D, </a:t>
            </a:r>
          </a:p>
          <a:p>
            <a:r>
              <a:rPr lang="en" sz="1400" dirty="0"/>
              <a:t>Flatten</a:t>
            </a:r>
            <a:endParaRPr lang="ru-RU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36D941-511D-E100-1E51-0D9FD79DAEC6}"/>
              </a:ext>
            </a:extLst>
          </p:cNvPr>
          <p:cNvSpPr txBox="1"/>
          <p:nvPr/>
        </p:nvSpPr>
        <p:spPr>
          <a:xfrm>
            <a:off x="2340704" y="3288120"/>
            <a:ext cx="18151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/>
              <a:t>Override the </a:t>
            </a:r>
            <a:r>
              <a:rPr lang="en" dirty="0" err="1"/>
              <a:t>matmul</a:t>
            </a:r>
            <a:r>
              <a:rPr lang="en" dirty="0"/>
              <a:t> method for the layer</a:t>
            </a:r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80BC992-35EF-CA2B-B32A-69717701D7C2}"/>
              </a:ext>
            </a:extLst>
          </p:cNvPr>
          <p:cNvSpPr/>
          <p:nvPr/>
        </p:nvSpPr>
        <p:spPr>
          <a:xfrm>
            <a:off x="232012" y="393826"/>
            <a:ext cx="3843601" cy="592704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2E1B93-06F7-BD5A-1FA7-EFFCAC045DC0}"/>
              </a:ext>
            </a:extLst>
          </p:cNvPr>
          <p:cNvSpPr txBox="1"/>
          <p:nvPr/>
        </p:nvSpPr>
        <p:spPr>
          <a:xfrm>
            <a:off x="41226" y="12067"/>
            <a:ext cx="4356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/>
              <a:t>This code runs on a PC with TensorFlow (TF)</a:t>
            </a:r>
            <a:endParaRPr lang="ru-RU" dirty="0"/>
          </a:p>
        </p:txBody>
      </p:sp>
      <p:sp>
        <p:nvSpPr>
          <p:cNvPr id="30" name="Вертикальный свиток 29">
            <a:extLst>
              <a:ext uri="{FF2B5EF4-FFF2-40B4-BE49-F238E27FC236}">
                <a16:creationId xmlns:a16="http://schemas.microsoft.com/office/drawing/2014/main" id="{32D5807D-0FC3-8855-CD3B-E5B2D0768831}"/>
              </a:ext>
            </a:extLst>
          </p:cNvPr>
          <p:cNvSpPr/>
          <p:nvPr/>
        </p:nvSpPr>
        <p:spPr>
          <a:xfrm>
            <a:off x="4537802" y="2641499"/>
            <a:ext cx="2002191" cy="2508744"/>
          </a:xfrm>
          <a:prstGeom prst="verticalScroll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b="1" dirty="0">
                <a:solidFill>
                  <a:schemeClr val="tx1"/>
                </a:solidFill>
              </a:rPr>
              <a:t>Neural network inference script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2" name="Соединительная линия уступом 31">
            <a:extLst>
              <a:ext uri="{FF2B5EF4-FFF2-40B4-BE49-F238E27FC236}">
                <a16:creationId xmlns:a16="http://schemas.microsoft.com/office/drawing/2014/main" id="{194A1D4C-4E73-710F-9964-4D87006FCD71}"/>
              </a:ext>
            </a:extLst>
          </p:cNvPr>
          <p:cNvCxnSpPr>
            <a:cxnSpLocks/>
            <a:stCxn id="18" idx="3"/>
            <a:endCxn id="30" idx="1"/>
          </p:cNvCxnSpPr>
          <p:nvPr/>
        </p:nvCxnSpPr>
        <p:spPr>
          <a:xfrm flipV="1">
            <a:off x="2219515" y="3895871"/>
            <a:ext cx="2568561" cy="657111"/>
          </a:xfrm>
          <a:prstGeom prst="bentConnector5">
            <a:avLst>
              <a:gd name="adj1" fmla="val 45128"/>
              <a:gd name="adj2" fmla="val 230"/>
              <a:gd name="adj3" fmla="val 8508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A4CD035-41CF-D569-B7A5-D3066992A400}"/>
              </a:ext>
            </a:extLst>
          </p:cNvPr>
          <p:cNvSpPr txBox="1"/>
          <p:nvPr/>
        </p:nvSpPr>
        <p:spPr>
          <a:xfrm>
            <a:off x="2408749" y="4591396"/>
            <a:ext cx="183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1. </a:t>
            </a:r>
            <a:r>
              <a:rPr lang="en" dirty="0" err="1"/>
              <a:t>load_model</a:t>
            </a:r>
            <a:endParaRPr lang="ru-RU" dirty="0"/>
          </a:p>
        </p:txBody>
      </p:sp>
      <p:sp>
        <p:nvSpPr>
          <p:cNvPr id="35" name="Несколько документов 34">
            <a:extLst>
              <a:ext uri="{FF2B5EF4-FFF2-40B4-BE49-F238E27FC236}">
                <a16:creationId xmlns:a16="http://schemas.microsoft.com/office/drawing/2014/main" id="{8441FDB9-ED77-2549-7EB8-8C9D2C16FC35}"/>
              </a:ext>
            </a:extLst>
          </p:cNvPr>
          <p:cNvSpPr/>
          <p:nvPr/>
        </p:nvSpPr>
        <p:spPr>
          <a:xfrm>
            <a:off x="7404222" y="3161406"/>
            <a:ext cx="1837380" cy="1460310"/>
          </a:xfrm>
          <a:prstGeom prst="flowChartMultidocumen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hardlayers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6" name="Альтернативный процесс 35">
            <a:extLst>
              <a:ext uri="{FF2B5EF4-FFF2-40B4-BE49-F238E27FC236}">
                <a16:creationId xmlns:a16="http://schemas.microsoft.com/office/drawing/2014/main" id="{D0ADD028-91C3-454F-5EB9-20821F57C93E}"/>
              </a:ext>
            </a:extLst>
          </p:cNvPr>
          <p:cNvSpPr/>
          <p:nvPr/>
        </p:nvSpPr>
        <p:spPr>
          <a:xfrm>
            <a:off x="10417611" y="1243561"/>
            <a:ext cx="1595132" cy="899786"/>
          </a:xfrm>
          <a:prstGeom prst="flowChartAlternateProcess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MemriCore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85FE40-4313-9C69-3543-587F19543D3C}"/>
              </a:ext>
            </a:extLst>
          </p:cNvPr>
          <p:cNvSpPr txBox="1"/>
          <p:nvPr/>
        </p:nvSpPr>
        <p:spPr>
          <a:xfrm>
            <a:off x="9498923" y="1259628"/>
            <a:ext cx="183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2. conn</a:t>
            </a:r>
            <a:endParaRPr lang="ru-R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753DCE-847C-6BC4-2EFE-13A31757BFE7}"/>
              </a:ext>
            </a:extLst>
          </p:cNvPr>
          <p:cNvSpPr txBox="1"/>
          <p:nvPr/>
        </p:nvSpPr>
        <p:spPr>
          <a:xfrm>
            <a:off x="10407886" y="2162450"/>
            <a:ext cx="11050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mode_7,</a:t>
            </a:r>
          </a:p>
          <a:p>
            <a:r>
              <a:rPr lang="en-US" sz="1400" dirty="0"/>
              <a:t>mode_9,</a:t>
            </a:r>
          </a:p>
          <a:p>
            <a:r>
              <a:rPr lang="en-US" sz="1400" dirty="0" err="1"/>
              <a:t>mode_mvm</a:t>
            </a:r>
            <a:r>
              <a:rPr lang="en-US" sz="1400" dirty="0"/>
              <a:t>,</a:t>
            </a:r>
          </a:p>
          <a:p>
            <a:r>
              <a:rPr lang="en-US" sz="1400" dirty="0" err="1"/>
              <a:t>mode_core</a:t>
            </a:r>
            <a:endParaRPr lang="ru-RU" sz="1400" dirty="0"/>
          </a:p>
        </p:txBody>
      </p:sp>
      <p:sp>
        <p:nvSpPr>
          <p:cNvPr id="42" name="Несколько документов 41">
            <a:extLst>
              <a:ext uri="{FF2B5EF4-FFF2-40B4-BE49-F238E27FC236}">
                <a16:creationId xmlns:a16="http://schemas.microsoft.com/office/drawing/2014/main" id="{CE17BBA9-8E5A-5ECC-7CAC-8E4BDC509A7C}"/>
              </a:ext>
            </a:extLst>
          </p:cNvPr>
          <p:cNvSpPr/>
          <p:nvPr/>
        </p:nvSpPr>
        <p:spPr>
          <a:xfrm>
            <a:off x="7661543" y="969533"/>
            <a:ext cx="1837380" cy="1460310"/>
          </a:xfrm>
          <a:prstGeom prst="flowChartMultidocumen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cores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DF150B0B-D2E2-3606-10BF-3A6309677846}"/>
              </a:ext>
            </a:extLst>
          </p:cNvPr>
          <p:cNvCxnSpPr>
            <a:cxnSpLocks/>
            <a:stCxn id="36" idx="1"/>
            <a:endCxn id="42" idx="3"/>
          </p:cNvCxnSpPr>
          <p:nvPr/>
        </p:nvCxnSpPr>
        <p:spPr>
          <a:xfrm flipH="1">
            <a:off x="9498923" y="1693454"/>
            <a:ext cx="918688" cy="62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DB9B5CD8-09E0-80D8-C0B9-24A2623183F0}"/>
              </a:ext>
            </a:extLst>
          </p:cNvPr>
          <p:cNvCxnSpPr>
            <a:cxnSpLocks/>
            <a:stCxn id="42" idx="2"/>
            <a:endCxn id="35" idx="0"/>
          </p:cNvCxnSpPr>
          <p:nvPr/>
        </p:nvCxnSpPr>
        <p:spPr>
          <a:xfrm flipH="1">
            <a:off x="8449317" y="2374541"/>
            <a:ext cx="3150" cy="7868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30B8B8E-062D-003A-2DEC-966308A7F86D}"/>
              </a:ext>
            </a:extLst>
          </p:cNvPr>
          <p:cNvSpPr txBox="1"/>
          <p:nvPr/>
        </p:nvSpPr>
        <p:spPr>
          <a:xfrm>
            <a:off x="8449317" y="2516217"/>
            <a:ext cx="183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3</a:t>
            </a:r>
            <a:r>
              <a:rPr lang="en-US" dirty="0"/>
              <a:t>. device</a:t>
            </a:r>
            <a:endParaRPr lang="ru-R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CE9846-0E1E-3485-8D1A-712673074F50}"/>
              </a:ext>
            </a:extLst>
          </p:cNvPr>
          <p:cNvSpPr txBox="1"/>
          <p:nvPr/>
        </p:nvSpPr>
        <p:spPr>
          <a:xfrm>
            <a:off x="6289719" y="3482859"/>
            <a:ext cx="183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</a:t>
            </a:r>
            <a:r>
              <a:rPr lang="en-US" dirty="0" err="1"/>
              <a:t>matmul</a:t>
            </a:r>
            <a:endParaRPr lang="ru-RU" dirty="0"/>
          </a:p>
        </p:txBody>
      </p: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E5A0976E-24A9-D235-9A39-7120FBEC9D9D}"/>
              </a:ext>
            </a:extLst>
          </p:cNvPr>
          <p:cNvCxnSpPr>
            <a:cxnSpLocks/>
            <a:stCxn id="35" idx="1"/>
            <a:endCxn id="30" idx="3"/>
          </p:cNvCxnSpPr>
          <p:nvPr/>
        </p:nvCxnSpPr>
        <p:spPr>
          <a:xfrm flipH="1">
            <a:off x="6289719" y="3891561"/>
            <a:ext cx="1114503" cy="43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Альтернативный процесс 61">
            <a:extLst>
              <a:ext uri="{FF2B5EF4-FFF2-40B4-BE49-F238E27FC236}">
                <a16:creationId xmlns:a16="http://schemas.microsoft.com/office/drawing/2014/main" id="{9430D7BE-D019-A2DC-A021-67C9D96AD75E}"/>
              </a:ext>
            </a:extLst>
          </p:cNvPr>
          <p:cNvSpPr/>
          <p:nvPr/>
        </p:nvSpPr>
        <p:spPr>
          <a:xfrm>
            <a:off x="10407886" y="220647"/>
            <a:ext cx="1595132" cy="899786"/>
          </a:xfrm>
          <a:prstGeom prst="flowChartAlternateProcess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MemriBoard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D74537-3C9C-B179-9FA9-A60E2F24183F}"/>
              </a:ext>
            </a:extLst>
          </p:cNvPr>
          <p:cNvSpPr txBox="1"/>
          <p:nvPr/>
        </p:nvSpPr>
        <p:spPr>
          <a:xfrm>
            <a:off x="7238697" y="47326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 err="1"/>
              <a:t>ElementWiseMatMulLayer</a:t>
            </a:r>
            <a:endParaRPr lang="en" dirty="0"/>
          </a:p>
        </p:txBody>
      </p:sp>
      <p:cxnSp>
        <p:nvCxnSpPr>
          <p:cNvPr id="70" name="Соединительная линия уступом 69">
            <a:extLst>
              <a:ext uri="{FF2B5EF4-FFF2-40B4-BE49-F238E27FC236}">
                <a16:creationId xmlns:a16="http://schemas.microsoft.com/office/drawing/2014/main" id="{3F5C66A3-9523-66B5-1BB2-103555C391DB}"/>
              </a:ext>
            </a:extLst>
          </p:cNvPr>
          <p:cNvCxnSpPr>
            <a:cxnSpLocks/>
            <a:stCxn id="62" idx="1"/>
            <a:endCxn id="42" idx="0"/>
          </p:cNvCxnSpPr>
          <p:nvPr/>
        </p:nvCxnSpPr>
        <p:spPr>
          <a:xfrm rot="10800000" flipV="1">
            <a:off x="8706638" y="670539"/>
            <a:ext cx="1701248" cy="29899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Память с прямым доступом 80">
            <a:extLst>
              <a:ext uri="{FF2B5EF4-FFF2-40B4-BE49-F238E27FC236}">
                <a16:creationId xmlns:a16="http://schemas.microsoft.com/office/drawing/2014/main" id="{697D039D-C4B9-FFA0-7558-16266F33EE91}"/>
              </a:ext>
            </a:extLst>
          </p:cNvPr>
          <p:cNvSpPr/>
          <p:nvPr/>
        </p:nvSpPr>
        <p:spPr>
          <a:xfrm rot="16200000">
            <a:off x="5054024" y="1134090"/>
            <a:ext cx="969747" cy="942433"/>
          </a:xfrm>
          <a:prstGeom prst="flowChartMagneticDrum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EDBBC3B-48E6-4EBF-5BA0-1EF0344658BF}"/>
              </a:ext>
            </a:extLst>
          </p:cNvPr>
          <p:cNvSpPr txBox="1"/>
          <p:nvPr/>
        </p:nvSpPr>
        <p:spPr>
          <a:xfrm>
            <a:off x="4984576" y="697472"/>
            <a:ext cx="1152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data</a:t>
            </a:r>
            <a:endParaRPr lang="ru-RU" dirty="0"/>
          </a:p>
        </p:txBody>
      </p:sp>
      <p:cxnSp>
        <p:nvCxnSpPr>
          <p:cNvPr id="83" name="Прямая со стрелкой 82">
            <a:extLst>
              <a:ext uri="{FF2B5EF4-FFF2-40B4-BE49-F238E27FC236}">
                <a16:creationId xmlns:a16="http://schemas.microsoft.com/office/drawing/2014/main" id="{BE3BAE45-B058-5936-092D-3B22D42108D8}"/>
              </a:ext>
            </a:extLst>
          </p:cNvPr>
          <p:cNvCxnSpPr>
            <a:cxnSpLocks/>
            <a:stCxn id="81" idx="1"/>
            <a:endCxn id="30" idx="0"/>
          </p:cNvCxnSpPr>
          <p:nvPr/>
        </p:nvCxnSpPr>
        <p:spPr>
          <a:xfrm>
            <a:off x="5538898" y="2090180"/>
            <a:ext cx="0" cy="5513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Память с прямым доступом 85">
            <a:extLst>
              <a:ext uri="{FF2B5EF4-FFF2-40B4-BE49-F238E27FC236}">
                <a16:creationId xmlns:a16="http://schemas.microsoft.com/office/drawing/2014/main" id="{2C765125-DE8A-C18F-CBD3-0D501C6F11F0}"/>
              </a:ext>
            </a:extLst>
          </p:cNvPr>
          <p:cNvSpPr/>
          <p:nvPr/>
        </p:nvSpPr>
        <p:spPr>
          <a:xfrm rot="16200000">
            <a:off x="5027211" y="5693666"/>
            <a:ext cx="1023376" cy="942433"/>
          </a:xfrm>
          <a:prstGeom prst="flowChartMagneticDrum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7" name="Прямая со стрелкой 86">
            <a:extLst>
              <a:ext uri="{FF2B5EF4-FFF2-40B4-BE49-F238E27FC236}">
                <a16:creationId xmlns:a16="http://schemas.microsoft.com/office/drawing/2014/main" id="{F922D56C-181D-887E-FE23-883115E807DF}"/>
              </a:ext>
            </a:extLst>
          </p:cNvPr>
          <p:cNvCxnSpPr>
            <a:cxnSpLocks/>
            <a:stCxn id="30" idx="2"/>
            <a:endCxn id="86" idx="4"/>
          </p:cNvCxnSpPr>
          <p:nvPr/>
        </p:nvCxnSpPr>
        <p:spPr>
          <a:xfrm>
            <a:off x="5538898" y="5150243"/>
            <a:ext cx="2" cy="5029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4F0CDFAB-D9E5-5D99-5777-4B15E8E107CE}"/>
              </a:ext>
            </a:extLst>
          </p:cNvPr>
          <p:cNvSpPr txBox="1"/>
          <p:nvPr/>
        </p:nvSpPr>
        <p:spPr>
          <a:xfrm>
            <a:off x="6096000" y="5991603"/>
            <a:ext cx="132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data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9B9DDB-A7E7-1648-2ED7-2A477F4CA748}"/>
              </a:ext>
            </a:extLst>
          </p:cNvPr>
          <p:cNvSpPr txBox="1"/>
          <p:nvPr/>
        </p:nvSpPr>
        <p:spPr>
          <a:xfrm>
            <a:off x="8937628" y="309083"/>
            <a:ext cx="1627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Application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32F77D-0559-ACB2-B3AE-7721D6EC288C}"/>
              </a:ext>
            </a:extLst>
          </p:cNvPr>
          <p:cNvSpPr txBox="1"/>
          <p:nvPr/>
        </p:nvSpPr>
        <p:spPr>
          <a:xfrm>
            <a:off x="6414747" y="357501"/>
            <a:ext cx="6673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read_one_weight</a:t>
            </a:r>
            <a:endParaRPr lang="ru-RU" sz="1400" dirty="0"/>
          </a:p>
          <a:p>
            <a:r>
              <a:rPr lang="ru-RU" sz="1400" dirty="0" err="1"/>
              <a:t>read_raw_weights</a:t>
            </a:r>
            <a:endParaRPr lang="ru-RU" sz="1400" dirty="0"/>
          </a:p>
          <a:p>
            <a:r>
              <a:rPr lang="ru-RU" sz="1400" dirty="0" err="1"/>
              <a:t>write_weight</a:t>
            </a:r>
            <a:endParaRPr lang="ru-RU" sz="1400" dirty="0"/>
          </a:p>
          <a:p>
            <a:r>
              <a:rPr lang="ru-RU" sz="1400" dirty="0" err="1"/>
              <a:t>write_matrix</a:t>
            </a:r>
            <a:endParaRPr lang="ru-RU" sz="1400" dirty="0"/>
          </a:p>
          <a:p>
            <a:r>
              <a:rPr lang="ru-RU" sz="1400" dirty="0" err="1"/>
              <a:t>multiplication</a:t>
            </a:r>
            <a:endParaRPr lang="ru-RU" sz="1400" dirty="0"/>
          </a:p>
          <a:p>
            <a:r>
              <a:rPr lang="ru-RU" sz="1400" dirty="0" err="1"/>
              <a:t>dot_product</a:t>
            </a:r>
            <a:endParaRPr lang="ru-RU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C01054-8039-A7EA-67E7-1FFEF91BAF2B}"/>
              </a:ext>
            </a:extLst>
          </p:cNvPr>
          <p:cNvSpPr txBox="1"/>
          <p:nvPr/>
        </p:nvSpPr>
        <p:spPr>
          <a:xfrm>
            <a:off x="9350486" y="635370"/>
            <a:ext cx="183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Simulator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2058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174</Words>
  <Application>Microsoft Macintosh PowerPoint</Application>
  <PresentationFormat>Широкоэкранный</PresentationFormat>
  <Paragraphs>68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С.А. Щаников</dc:creator>
  <cp:lastModifiedBy>С.А. Щаников</cp:lastModifiedBy>
  <cp:revision>9</cp:revision>
  <dcterms:created xsi:type="dcterms:W3CDTF">2026-04-14T06:57:22Z</dcterms:created>
  <dcterms:modified xsi:type="dcterms:W3CDTF">2026-09-30T13:06:32Z</dcterms:modified>
</cp:coreProperties>
</file>